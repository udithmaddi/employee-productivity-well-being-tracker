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Open Sauce Bold" panose="020B0604020202020204" charset="0"/>
      <p:regular r:id="rId20"/>
    </p:embeddedFont>
    <p:embeddedFont>
      <p:font typeface="Open Sauce Semi-Bold" panose="020B0604020202020204" charset="0"/>
      <p:regular r:id="rId21"/>
    </p:embeddedFont>
    <p:embeddedFont>
      <p:font typeface="Poppins" panose="00000500000000000000" pitchFamily="2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42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40810" y="-198899"/>
            <a:ext cx="4257787" cy="4021268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1827051" y="1028700"/>
            <a:ext cx="5579527" cy="8229600"/>
            <a:chOff x="0" y="0"/>
            <a:chExt cx="4305191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05191" cy="6350000"/>
            </a:xfrm>
            <a:custGeom>
              <a:avLst/>
              <a:gdLst/>
              <a:ahLst/>
              <a:cxnLst/>
              <a:rect l="l" t="t" r="r" b="b"/>
              <a:pathLst>
                <a:path w="4305191" h="6350000">
                  <a:moveTo>
                    <a:pt x="4305191" y="1169060"/>
                  </a:moveTo>
                  <a:cubicBezTo>
                    <a:pt x="4305191" y="3034449"/>
                    <a:pt x="4305191" y="4484599"/>
                    <a:pt x="4305191" y="6350000"/>
                  </a:cubicBezTo>
                  <a:lnTo>
                    <a:pt x="0" y="6350000"/>
                  </a:lnTo>
                  <a:lnTo>
                    <a:pt x="0" y="1533195"/>
                  </a:lnTo>
                  <a:cubicBezTo>
                    <a:pt x="0" y="1022134"/>
                    <a:pt x="0" y="511061"/>
                    <a:pt x="0" y="0"/>
                  </a:cubicBezTo>
                  <a:lnTo>
                    <a:pt x="1820766" y="0"/>
                  </a:lnTo>
                  <a:cubicBezTo>
                    <a:pt x="2648908" y="389687"/>
                    <a:pt x="3477049" y="779374"/>
                    <a:pt x="4305191" y="1169060"/>
                  </a:cubicBezTo>
                  <a:close/>
                </a:path>
              </a:pathLst>
            </a:custGeom>
            <a:blipFill>
              <a:blip r:embed="rId2"/>
              <a:stretch>
                <a:fillRect l="-60484" r="-6048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523123"/>
            <a:ext cx="8012265" cy="9763877"/>
            <a:chOff x="0" y="0"/>
            <a:chExt cx="10683020" cy="1301850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0683020" cy="8772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59"/>
                </a:lnSpc>
              </a:pPr>
              <a:r>
                <a:rPr lang="en-US" sz="8799" b="1">
                  <a:solidFill>
                    <a:srgbClr val="1B253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Employee Productivity &amp; Well-being Tracker</a:t>
              </a:r>
            </a:p>
            <a:p>
              <a:pPr marL="0" lvl="0" indent="0" algn="l">
                <a:lnSpc>
                  <a:spcPts val="9769"/>
                </a:lnSpc>
              </a:pPr>
              <a:endParaRPr lang="en-US" sz="8799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119512"/>
              <a:ext cx="7328198" cy="38989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12"/>
                </a:lnSpc>
              </a:pPr>
              <a:r>
                <a:rPr lang="en-US" sz="3366" b="1">
                  <a:solidFill>
                    <a:srgbClr val="1B253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 Data-Driven Approach to Balancing Performance &amp; Employee Health</a:t>
              </a:r>
            </a:p>
            <a:p>
              <a:pPr marL="0" lvl="0" indent="0" algn="l">
                <a:lnSpc>
                  <a:spcPts val="4712"/>
                </a:lnSpc>
                <a:spcBef>
                  <a:spcPct val="0"/>
                </a:spcBef>
              </a:pPr>
              <a:endParaRPr lang="en-US" sz="3366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40810" y="-198899"/>
            <a:ext cx="4257787" cy="4021268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131735" y="3800463"/>
            <a:ext cx="8012265" cy="26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  <a:p>
            <a:pPr marL="0" lvl="0" indent="0" algn="l">
              <a:lnSpc>
                <a:spcPts val="10559"/>
              </a:lnSpc>
            </a:pPr>
            <a:endParaRPr lang="en-US" sz="8799" b="1">
              <a:solidFill>
                <a:srgbClr val="1B2535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064746" y="1811735"/>
            <a:ext cx="6722703" cy="7446565"/>
            <a:chOff x="0" y="0"/>
            <a:chExt cx="812800" cy="9003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00318"/>
            </a:xfrm>
            <a:custGeom>
              <a:avLst/>
              <a:gdLst/>
              <a:ahLst/>
              <a:cxnLst/>
              <a:rect l="l" t="t" r="r" b="b"/>
              <a:pathLst>
                <a:path w="812800" h="900318">
                  <a:moveTo>
                    <a:pt x="0" y="0"/>
                  </a:moveTo>
                  <a:lnTo>
                    <a:pt x="812800" y="0"/>
                  </a:lnTo>
                  <a:lnTo>
                    <a:pt x="812800" y="900318"/>
                  </a:lnTo>
                  <a:lnTo>
                    <a:pt x="0" y="900318"/>
                  </a:lnTo>
                  <a:close/>
                </a:path>
              </a:pathLst>
            </a:custGeom>
            <a:blipFill>
              <a:blip r:embed="rId2"/>
              <a:stretch>
                <a:fillRect l="-33127" r="-3312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953" y="1190455"/>
            <a:ext cx="8576150" cy="279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1B253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INTRODUCTION</a:t>
            </a:r>
          </a:p>
          <a:p>
            <a:pPr algn="ctr">
              <a:lnSpc>
                <a:spcPts val="11200"/>
              </a:lnSpc>
              <a:spcBef>
                <a:spcPct val="0"/>
              </a:spcBef>
            </a:pPr>
            <a:endParaRPr lang="en-US" sz="8000" b="1">
              <a:solidFill>
                <a:srgbClr val="1B2535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53762" y="3320213"/>
            <a:ext cx="16267771" cy="60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COMPANIES STRUGGLE TO MAINTAIN A BALANCE BETWEEN EMPLOYEE PRODUCTIVITY AND WELL-BEING.</a:t>
            </a:r>
          </a:p>
          <a:p>
            <a:pPr algn="just">
              <a:lnSpc>
                <a:spcPts val="4305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just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OVERWORKING CAN LEAD TO BURNOUT, WHILE UNDERPERFORMANCE AFFECTS COMPANY GROWTH.</a:t>
            </a:r>
          </a:p>
          <a:p>
            <a:pPr algn="just">
              <a:lnSpc>
                <a:spcPts val="4305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just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PROJECT AIMS TO CREATE A POWER BI DASHBOARD TO ANALYZE PRODUCTIVITY AND WELL-BEING TRENDS.</a:t>
            </a:r>
          </a:p>
          <a:p>
            <a:pPr algn="just">
              <a:lnSpc>
                <a:spcPts val="4305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305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305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5458845" y="-1351307"/>
            <a:ext cx="4412714" cy="4021268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40810" y="-198899"/>
            <a:ext cx="4257787" cy="4021268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3679441"/>
            <a:ext cx="8394168" cy="401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Define the Problem</a:t>
            </a:r>
          </a:p>
          <a:p>
            <a:pPr marL="0" lvl="0" indent="0" algn="l">
              <a:lnSpc>
                <a:spcPts val="10559"/>
              </a:lnSpc>
            </a:pPr>
            <a:endParaRPr lang="en-US" sz="8799" b="1">
              <a:solidFill>
                <a:srgbClr val="1B2535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422868" y="2149164"/>
            <a:ext cx="7552266" cy="6566925"/>
            <a:chOff x="0" y="0"/>
            <a:chExt cx="3272790" cy="28457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72790" cy="2845791"/>
            </a:xfrm>
            <a:custGeom>
              <a:avLst/>
              <a:gdLst/>
              <a:ahLst/>
              <a:cxnLst/>
              <a:rect l="l" t="t" r="r" b="b"/>
              <a:pathLst>
                <a:path w="3272790" h="2845791">
                  <a:moveTo>
                    <a:pt x="0" y="0"/>
                  </a:moveTo>
                  <a:lnTo>
                    <a:pt x="2767330" y="0"/>
                  </a:lnTo>
                  <a:cubicBezTo>
                    <a:pt x="3046730" y="0"/>
                    <a:pt x="3272790" y="301878"/>
                    <a:pt x="3272790" y="674985"/>
                  </a:cubicBezTo>
                  <a:lnTo>
                    <a:pt x="3272790" y="2845791"/>
                  </a:lnTo>
                  <a:lnTo>
                    <a:pt x="0" y="284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255" r="-1525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16897" y="1133707"/>
            <a:ext cx="12232413" cy="244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1B253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PROBLEM STATEMENT</a:t>
            </a:r>
          </a:p>
          <a:p>
            <a:pPr algn="ctr">
              <a:lnSpc>
                <a:spcPts val="9800"/>
              </a:lnSpc>
              <a:spcBef>
                <a:spcPct val="0"/>
              </a:spcBef>
            </a:pPr>
            <a:endParaRPr lang="en-US" sz="7000" b="1">
              <a:solidFill>
                <a:srgbClr val="1B2535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5458845" y="-1351307"/>
            <a:ext cx="4412714" cy="4021268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" name="AutoShape 4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292764" y="2975808"/>
            <a:ext cx="14166081" cy="533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6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EMPLOYEES OFTEN EXPERIENCE STRESS DUE TO WORKLOAD IMBALANCE, LEADING TO BURNOUT AND HIGH ATTRITION RATES.</a:t>
            </a:r>
          </a:p>
          <a:p>
            <a:pPr algn="l">
              <a:lnSpc>
                <a:spcPts val="4655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6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LACK OF REAL-TIME MONITORING MAKES IT DIFFICULT FOR MANAGERS TO IDENTIFY STRUGGLING EMPLOYEES.</a:t>
            </a:r>
          </a:p>
          <a:p>
            <a:pPr algn="l">
              <a:lnSpc>
                <a:spcPts val="4655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6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BUSINESSES NEED A SOLUTION TO TRACK AND IMPROVE BOTH PRODUCTIVITY AND EMPLOYEE SATISFACTION.</a:t>
            </a:r>
          </a:p>
          <a:p>
            <a:pPr algn="l">
              <a:lnSpc>
                <a:spcPts val="4655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40810" y="-198899"/>
            <a:ext cx="4257787" cy="4021268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57730" y="1965952"/>
            <a:ext cx="6722703" cy="7446565"/>
            <a:chOff x="0" y="0"/>
            <a:chExt cx="812800" cy="90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00318"/>
            </a:xfrm>
            <a:custGeom>
              <a:avLst/>
              <a:gdLst/>
              <a:ahLst/>
              <a:cxnLst/>
              <a:rect l="l" t="t" r="r" b="b"/>
              <a:pathLst>
                <a:path w="812800" h="900318">
                  <a:moveTo>
                    <a:pt x="0" y="0"/>
                  </a:moveTo>
                  <a:lnTo>
                    <a:pt x="812800" y="0"/>
                  </a:lnTo>
                  <a:lnTo>
                    <a:pt x="812800" y="900318"/>
                  </a:lnTo>
                  <a:lnTo>
                    <a:pt x="0" y="900318"/>
                  </a:lnTo>
                  <a:close/>
                </a:path>
              </a:pathLst>
            </a:custGeom>
            <a:blipFill>
              <a:blip r:embed="rId2"/>
              <a:stretch>
                <a:fillRect l="-34730" r="-3473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346197"/>
            <a:ext cx="8394168" cy="26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</a:t>
            </a:r>
          </a:p>
          <a:p>
            <a:pPr marL="0" lvl="0" indent="0" algn="l">
              <a:lnSpc>
                <a:spcPts val="10559"/>
              </a:lnSpc>
            </a:pPr>
            <a:endParaRPr lang="en-US" sz="8799" b="1">
              <a:solidFill>
                <a:srgbClr val="1B2535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868" y="904875"/>
            <a:ext cx="7147320" cy="226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1B253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MAIN GOALS</a:t>
            </a:r>
          </a:p>
          <a:p>
            <a:pPr algn="ctr">
              <a:lnSpc>
                <a:spcPts val="9100"/>
              </a:lnSpc>
              <a:spcBef>
                <a:spcPct val="0"/>
              </a:spcBef>
            </a:pPr>
            <a:endParaRPr lang="en-US" sz="6500" b="1">
              <a:solidFill>
                <a:srgbClr val="1B2535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36107" y="2565187"/>
            <a:ext cx="14782454" cy="685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931" lvl="1" indent="-379465" algn="l">
              <a:lnSpc>
                <a:spcPts val="4921"/>
              </a:lnSpc>
              <a:spcBef>
                <a:spcPct val="0"/>
              </a:spcBef>
              <a:buFont typeface="Arial"/>
              <a:buChar char="•"/>
            </a:pPr>
            <a:r>
              <a:rPr lang="en-US" sz="35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TRACK EMPLOYEE PRODUCTIVITY USING KEY PERFORMANCE METRICS.</a:t>
            </a:r>
          </a:p>
          <a:p>
            <a:pPr algn="l">
              <a:lnSpc>
                <a:spcPts val="4921"/>
              </a:lnSpc>
              <a:spcBef>
                <a:spcPct val="0"/>
              </a:spcBef>
            </a:pPr>
            <a:endParaRPr lang="en-US" sz="351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8931" lvl="1" indent="-379465" algn="l">
              <a:lnSpc>
                <a:spcPts val="4921"/>
              </a:lnSpc>
              <a:spcBef>
                <a:spcPct val="0"/>
              </a:spcBef>
              <a:buFont typeface="Arial"/>
              <a:buChar char="•"/>
            </a:pPr>
            <a:r>
              <a:rPr lang="en-US" sz="35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POTENTIAL BURNOUT RISKS AND SUGGEST PREVENTIVE ACTIONS.</a:t>
            </a:r>
          </a:p>
          <a:p>
            <a:pPr algn="l">
              <a:lnSpc>
                <a:spcPts val="4921"/>
              </a:lnSpc>
              <a:spcBef>
                <a:spcPct val="0"/>
              </a:spcBef>
            </a:pPr>
            <a:endParaRPr lang="en-US" sz="351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8931" lvl="1" indent="-379465" algn="l">
              <a:lnSpc>
                <a:spcPts val="4921"/>
              </a:lnSpc>
              <a:spcBef>
                <a:spcPct val="0"/>
              </a:spcBef>
              <a:buFont typeface="Arial"/>
              <a:buChar char="•"/>
            </a:pPr>
            <a:r>
              <a:rPr lang="en-US" sz="35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MANAGERS WITH REAL-TIME, DATA-DRIVEN INSIGHTS.</a:t>
            </a:r>
          </a:p>
          <a:p>
            <a:pPr algn="l">
              <a:lnSpc>
                <a:spcPts val="4921"/>
              </a:lnSpc>
              <a:spcBef>
                <a:spcPct val="0"/>
              </a:spcBef>
            </a:pPr>
            <a:endParaRPr lang="en-US" sz="351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8931" lvl="1" indent="-379465" algn="l">
              <a:lnSpc>
                <a:spcPts val="4921"/>
              </a:lnSpc>
              <a:spcBef>
                <a:spcPct val="0"/>
              </a:spcBef>
              <a:buFont typeface="Arial"/>
              <a:buChar char="•"/>
            </a:pPr>
            <a:r>
              <a:rPr lang="en-US" sz="35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FOSTER A HEALTHIER WORK ENVIRONMENT THAT IMPROVES BOTH EFFICIENCY AND WELL-BEING.</a:t>
            </a:r>
          </a:p>
          <a:p>
            <a:pPr algn="l">
              <a:lnSpc>
                <a:spcPts val="4921"/>
              </a:lnSpc>
              <a:spcBef>
                <a:spcPct val="0"/>
              </a:spcBef>
            </a:pPr>
            <a:endParaRPr lang="en-US" sz="351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5458845" y="-1351307"/>
            <a:ext cx="4412714" cy="4021268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40810" y="-198899"/>
            <a:ext cx="4257787" cy="4021268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784939" y="1811735"/>
            <a:ext cx="6722703" cy="7446565"/>
            <a:chOff x="0" y="0"/>
            <a:chExt cx="812800" cy="90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00318"/>
            </a:xfrm>
            <a:custGeom>
              <a:avLst/>
              <a:gdLst/>
              <a:ahLst/>
              <a:cxnLst/>
              <a:rect l="l" t="t" r="r" b="b"/>
              <a:pathLst>
                <a:path w="812800" h="900318">
                  <a:moveTo>
                    <a:pt x="0" y="0"/>
                  </a:moveTo>
                  <a:lnTo>
                    <a:pt x="812800" y="0"/>
                  </a:lnTo>
                  <a:lnTo>
                    <a:pt x="812800" y="900318"/>
                  </a:lnTo>
                  <a:lnTo>
                    <a:pt x="0" y="900318"/>
                  </a:lnTo>
                  <a:close/>
                </a:path>
              </a:pathLst>
            </a:custGeom>
            <a:blipFill>
              <a:blip r:embed="rId2"/>
              <a:stretch>
                <a:fillRect l="-5383" r="-538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665215"/>
            <a:ext cx="8394168" cy="403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09"/>
              </a:lnSpc>
            </a:pPr>
            <a:r>
              <a:rPr lang="en-US" sz="8841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 Overview</a:t>
            </a:r>
          </a:p>
          <a:p>
            <a:pPr marL="0" lvl="0" indent="0" algn="l">
              <a:lnSpc>
                <a:spcPts val="10609"/>
              </a:lnSpc>
            </a:pPr>
            <a:endParaRPr lang="en-US" sz="8841" b="1">
              <a:solidFill>
                <a:srgbClr val="1B2535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1803" y="895350"/>
            <a:ext cx="13065509" cy="2432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1B253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KEY FIELDS IN THE DATASET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endParaRPr lang="en-US" sz="6999" b="1">
              <a:solidFill>
                <a:srgbClr val="1B2535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98104" y="2452807"/>
            <a:ext cx="15220457" cy="744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EMPLOYEE DETAILS: EMPLOYEE_ID, DEPARTMENT, JOB_TITLE, GENDER, AGE, EDUCATION_LEVEL, HIRE_DATE, YEARS_AT_COMPANY.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PRODUCTIVITY METRICS: PERFORMANCE_SCORE, WORK_HOURS_PER_WEEK, PROJECTS_HANDLED, OVERTIME_HOURS.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WELL-BEING INDICATORS: SICK_DAYS, REMOTE_WORK_FREQUENCY, EMPLOYEE_SATISFACTION_SCORE.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CAREER GROWTH FACTORS: TRAINING_HOURS, PROMOTIONS, TEAM_SIZE.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RESIGNATION STATUS: BOOLEAN VALUE INDICATING IF THE EMPLOYEE HAS RESIGNED.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5756484" y="-1351307"/>
            <a:ext cx="4115074" cy="3686861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40810" y="-198899"/>
            <a:ext cx="4257787" cy="4021268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413115" y="1811735"/>
            <a:ext cx="7404379" cy="7446565"/>
            <a:chOff x="0" y="0"/>
            <a:chExt cx="895217" cy="90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5217" cy="900318"/>
            </a:xfrm>
            <a:custGeom>
              <a:avLst/>
              <a:gdLst/>
              <a:ahLst/>
              <a:cxnLst/>
              <a:rect l="l" t="t" r="r" b="b"/>
              <a:pathLst>
                <a:path w="895217" h="900318">
                  <a:moveTo>
                    <a:pt x="0" y="0"/>
                  </a:moveTo>
                  <a:lnTo>
                    <a:pt x="895217" y="0"/>
                  </a:lnTo>
                  <a:lnTo>
                    <a:pt x="895217" y="900318"/>
                  </a:lnTo>
                  <a:lnTo>
                    <a:pt x="0" y="900318"/>
                  </a:lnTo>
                  <a:close/>
                </a:path>
              </a:pathLst>
            </a:custGeom>
            <a:blipFill>
              <a:blip r:embed="rId2"/>
              <a:stretch>
                <a:fillRect l="-30455" r="-3045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9980" y="3058509"/>
            <a:ext cx="9756239" cy="495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69"/>
              </a:lnSpc>
            </a:pPr>
            <a:r>
              <a:rPr lang="en-US" sz="8141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 Solution </a:t>
            </a:r>
          </a:p>
          <a:p>
            <a:pPr algn="l">
              <a:lnSpc>
                <a:spcPts val="9769"/>
              </a:lnSpc>
            </a:pPr>
            <a:r>
              <a:rPr lang="en-US" sz="8141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(Power BI Dashboard)</a:t>
            </a:r>
          </a:p>
          <a:p>
            <a:pPr marL="0" lvl="0" indent="0" algn="l">
              <a:lnSpc>
                <a:spcPts val="9769"/>
              </a:lnSpc>
            </a:pPr>
            <a:endParaRPr lang="en-US" sz="8141" b="1">
              <a:solidFill>
                <a:srgbClr val="1B2535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017858"/>
            <a:ext cx="16380933" cy="226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1B253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KEY FEATURES OF THE DASHBOARD</a:t>
            </a:r>
          </a:p>
          <a:p>
            <a:pPr algn="ctr">
              <a:lnSpc>
                <a:spcPts val="9100"/>
              </a:lnSpc>
              <a:spcBef>
                <a:spcPct val="0"/>
              </a:spcBef>
            </a:pPr>
            <a:endParaRPr lang="en-US" sz="6500" b="1">
              <a:solidFill>
                <a:srgbClr val="1B2535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33771" y="2432601"/>
            <a:ext cx="15220457" cy="682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INTERACTIVE CHARTS &amp; GRAPHS DISPLAYING EMPLOYEE PERFORMANCE TRENDS.</a:t>
            </a: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AI-DRIVEN INSIGHTS TO DETECT WORKLOAD IMBALANCES AND STRESS INDICATORS.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ALERTS &amp; NOTIFICATIONS FOR POTENTIAL BURNOUT RISKS.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COMPARISONS BETWEEN TEAMS/DEPARTMENTS TO OPTIMIZE RESOURCE ALLOCATION.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6066337" y="-1351307"/>
            <a:ext cx="3805221" cy="3407993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16571530" y="8687602"/>
            <a:ext cx="2125192" cy="2086695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40810" y="-198899"/>
            <a:ext cx="4257787" cy="4021268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8523013" y="1811735"/>
            <a:ext cx="9294481" cy="7446565"/>
            <a:chOff x="0" y="0"/>
            <a:chExt cx="1123738" cy="90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3738" cy="900318"/>
            </a:xfrm>
            <a:custGeom>
              <a:avLst/>
              <a:gdLst/>
              <a:ahLst/>
              <a:cxnLst/>
              <a:rect l="l" t="t" r="r" b="b"/>
              <a:pathLst>
                <a:path w="1123738" h="900318">
                  <a:moveTo>
                    <a:pt x="0" y="0"/>
                  </a:moveTo>
                  <a:lnTo>
                    <a:pt x="1123738" y="0"/>
                  </a:lnTo>
                  <a:lnTo>
                    <a:pt x="1123738" y="900318"/>
                  </a:lnTo>
                  <a:lnTo>
                    <a:pt x="0" y="900318"/>
                  </a:lnTo>
                  <a:close/>
                </a:path>
              </a:pathLst>
            </a:custGeom>
            <a:blipFill>
              <a:blip r:embed="rId2"/>
              <a:stretch>
                <a:fillRect l="-23334" r="-2333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56877" y="3812844"/>
            <a:ext cx="10499885" cy="401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Expected Outcomes</a:t>
            </a:r>
          </a:p>
          <a:p>
            <a:pPr marL="0" lvl="0" indent="0" algn="l">
              <a:lnSpc>
                <a:spcPts val="10559"/>
              </a:lnSpc>
            </a:pPr>
            <a:endParaRPr lang="en-US" sz="8799" b="1">
              <a:solidFill>
                <a:srgbClr val="1B2535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3148" y="1684980"/>
            <a:ext cx="16071081" cy="2105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1B253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IMPACT ON EMPLOYEES &amp; MANAGEMENT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  <a:endParaRPr lang="en-US" sz="6000" b="1">
              <a:solidFill>
                <a:srgbClr val="1B2535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33771" y="3051676"/>
            <a:ext cx="15220457" cy="6206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IMPROVED EMPLOYEE ENGAGEMENT AND SATISFACTION LEVELS.</a:t>
            </a: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ENHANCED PERFORMANCE MONITORING WITH REAL-TIME INSIGHTS.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REDUCTION IN BURNOUT CASES, LEADING TO BETTER RETENTION RATES.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DATA-DRIVEN DECISION-MAKING FOR HR POLICIES &amp; WORKLOAD DISTRIBUTION.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6345205" y="-1351307"/>
            <a:ext cx="3526354" cy="3160111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16013795" y="8284794"/>
            <a:ext cx="2682927" cy="2489503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40810" y="-198899"/>
            <a:ext cx="4257787" cy="4021268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686411" y="1811735"/>
            <a:ext cx="10286010" cy="7446565"/>
            <a:chOff x="0" y="0"/>
            <a:chExt cx="1243617" cy="90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3617" cy="900318"/>
            </a:xfrm>
            <a:custGeom>
              <a:avLst/>
              <a:gdLst/>
              <a:ahLst/>
              <a:cxnLst/>
              <a:rect l="l" t="t" r="r" b="b"/>
              <a:pathLst>
                <a:path w="1243617" h="900318">
                  <a:moveTo>
                    <a:pt x="0" y="0"/>
                  </a:moveTo>
                  <a:lnTo>
                    <a:pt x="1243617" y="0"/>
                  </a:lnTo>
                  <a:lnTo>
                    <a:pt x="1243617" y="900318"/>
                  </a:lnTo>
                  <a:lnTo>
                    <a:pt x="0" y="900318"/>
                  </a:lnTo>
                  <a:close/>
                </a:path>
              </a:pathLst>
            </a:custGeom>
            <a:blipFill>
              <a:blip r:embed="rId2"/>
              <a:stretch>
                <a:fillRect l="-16289" r="-16289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0965" y="4541571"/>
            <a:ext cx="10499885" cy="26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 </a:t>
            </a:r>
          </a:p>
          <a:p>
            <a:pPr marL="0" lvl="0" indent="0" algn="l">
              <a:lnSpc>
                <a:spcPts val="10559"/>
              </a:lnSpc>
            </a:pPr>
            <a:endParaRPr lang="en-US" sz="8799" b="1">
              <a:solidFill>
                <a:srgbClr val="1B2535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809717" y="1545375"/>
            <a:ext cx="16071081" cy="247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</a:pPr>
            <a:r>
              <a:rPr lang="en-US" sz="7099" b="1">
                <a:solidFill>
                  <a:srgbClr val="1B253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CONCLUSION</a:t>
            </a:r>
          </a:p>
          <a:p>
            <a:pPr algn="ctr">
              <a:lnSpc>
                <a:spcPts val="9939"/>
              </a:lnSpc>
              <a:spcBef>
                <a:spcPct val="0"/>
              </a:spcBef>
            </a:pPr>
            <a:endParaRPr lang="en-US" sz="7099" b="1">
              <a:solidFill>
                <a:srgbClr val="1B2535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33771" y="3917788"/>
            <a:ext cx="15220457" cy="373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PROJECT WILL HELP BUSINESSES CREATE A BALANCE BETWEEN PRODUCTIVITY AND WELL-BEING.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WELL-STRUCTURED POWER BI DASHBOARD WILL ASSIST HR AND MANAGEMENT IN MAKING INFORMED DECISIONS.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5973381" y="-1351307"/>
            <a:ext cx="3898177" cy="3593905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16571530" y="8687602"/>
            <a:ext cx="2125192" cy="2086695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240810" y="-198899"/>
            <a:ext cx="4257787" cy="4021268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6318561" y="8528242"/>
            <a:ext cx="2378161" cy="2246055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686411" y="1811735"/>
            <a:ext cx="10286010" cy="7446565"/>
            <a:chOff x="0" y="0"/>
            <a:chExt cx="1243617" cy="90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3617" cy="900318"/>
            </a:xfrm>
            <a:custGeom>
              <a:avLst/>
              <a:gdLst/>
              <a:ahLst/>
              <a:cxnLst/>
              <a:rect l="l" t="t" r="r" b="b"/>
              <a:pathLst>
                <a:path w="1243617" h="900318">
                  <a:moveTo>
                    <a:pt x="0" y="0"/>
                  </a:moveTo>
                  <a:lnTo>
                    <a:pt x="1243617" y="0"/>
                  </a:lnTo>
                  <a:lnTo>
                    <a:pt x="1243617" y="900318"/>
                  </a:lnTo>
                  <a:lnTo>
                    <a:pt x="0" y="900318"/>
                  </a:lnTo>
                  <a:close/>
                </a:path>
              </a:pathLst>
            </a:custGeom>
            <a:blipFill>
              <a:blip r:embed="rId2"/>
              <a:stretch>
                <a:fillRect l="-13524" r="-1352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0965" y="4541571"/>
            <a:ext cx="10499885" cy="26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Next Steps</a:t>
            </a:r>
          </a:p>
          <a:p>
            <a:pPr marL="0" lvl="0" indent="0" algn="l">
              <a:lnSpc>
                <a:spcPts val="10559"/>
              </a:lnSpc>
            </a:pPr>
            <a:endParaRPr lang="en-US" sz="8799" b="1">
              <a:solidFill>
                <a:srgbClr val="1B2535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933659" y="1142566"/>
            <a:ext cx="16071081" cy="247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</a:pPr>
            <a:r>
              <a:rPr lang="en-US" sz="7099" b="1">
                <a:solidFill>
                  <a:srgbClr val="1B2535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NEXT STEPS</a:t>
            </a:r>
          </a:p>
          <a:p>
            <a:pPr algn="ctr">
              <a:lnSpc>
                <a:spcPts val="9939"/>
              </a:lnSpc>
              <a:spcBef>
                <a:spcPct val="0"/>
              </a:spcBef>
            </a:pPr>
            <a:endParaRPr lang="en-US" sz="7099" b="1">
              <a:solidFill>
                <a:srgbClr val="1B2535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43624" y="2833303"/>
            <a:ext cx="15220457" cy="6869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COLLECT SAMPLE DATA OR REAL-TIME DATA FROM COMPANY TOOLS.</a:t>
            </a:r>
          </a:p>
          <a:p>
            <a:pPr algn="l">
              <a:lnSpc>
                <a:spcPts val="4900"/>
              </a:lnSpc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ACQUIRE RELEVANT DATASETS FROM KAGGLE FOR ADDITIONAL INSIGHTS.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THE POWER BI DASHBOARD LAYOUT.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 AND TEST DATA VISUALIZATION TECHNIQUES.</a:t>
            </a:r>
          </a:p>
          <a:p>
            <a:pPr marL="377826" lvl="1" algn="l">
              <a:lnSpc>
                <a:spcPts val="490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 MACHINE LEARNING MODEL(CLASSIFICATION MODEL LIKE</a:t>
            </a:r>
            <a:b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5973381" y="-1351307"/>
            <a:ext cx="3898177" cy="3593905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16571530" y="8687602"/>
            <a:ext cx="2125192" cy="2086695"/>
          </a:xfrm>
          <a:prstGeom prst="rect">
            <a:avLst/>
          </a:prstGeom>
          <a:solidFill>
            <a:srgbClr val="1B2535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44222" y="3762422"/>
            <a:ext cx="4615078" cy="275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1B25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8295917"/>
            <a:ext cx="11533373" cy="2187651"/>
          </a:xfrm>
          <a:prstGeom prst="rect">
            <a:avLst/>
          </a:prstGeom>
          <a:solidFill>
            <a:srgbClr val="1B2535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1533373" cy="8426963"/>
            <a:chOff x="0" y="0"/>
            <a:chExt cx="111242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12420" cy="812800"/>
            </a:xfrm>
            <a:custGeom>
              <a:avLst/>
              <a:gdLst/>
              <a:ahLst/>
              <a:cxnLst/>
              <a:rect l="l" t="t" r="r" b="b"/>
              <a:pathLst>
                <a:path w="1112420" h="812800">
                  <a:moveTo>
                    <a:pt x="0" y="0"/>
                  </a:moveTo>
                  <a:lnTo>
                    <a:pt x="1112420" y="0"/>
                  </a:lnTo>
                  <a:lnTo>
                    <a:pt x="111242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4833" r="-48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422</Words>
  <Application>Microsoft Office PowerPoint</Application>
  <PresentationFormat>Custom</PresentationFormat>
  <Paragraphs>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Poppins</vt:lpstr>
      <vt:lpstr>Arial</vt:lpstr>
      <vt:lpstr>Open Sauce Semi-Bold</vt:lpstr>
      <vt:lpstr>Calibri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Productivity &amp; Well-being Tracker</dc:title>
  <cp:lastModifiedBy>Udith Ajith</cp:lastModifiedBy>
  <cp:revision>2</cp:revision>
  <dcterms:created xsi:type="dcterms:W3CDTF">2006-08-16T00:00:00Z</dcterms:created>
  <dcterms:modified xsi:type="dcterms:W3CDTF">2025-04-02T18:15:11Z</dcterms:modified>
  <dc:identifier>DAGhul7zD10</dc:identifier>
</cp:coreProperties>
</file>